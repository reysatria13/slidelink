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DCB"/>
    <a:srgbClr val="5C9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2C99FD-BBEB-9454-C6EB-7926FFC90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42291" y="1828800"/>
            <a:ext cx="49071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>
                <a:solidFill>
                  <a:schemeClr val="bg1"/>
                </a:solidFill>
              </a:rPr>
              <a:t>2025年度 </a:t>
            </a:r>
            <a:r>
              <a:rPr dirty="0" err="1">
                <a:solidFill>
                  <a:schemeClr val="bg1"/>
                </a:solidFill>
              </a:rPr>
              <a:t>事業計画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98857" y="3200400"/>
            <a:ext cx="25939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dirty="0" err="1">
                <a:solidFill>
                  <a:schemeClr val="bg1"/>
                </a:solidFill>
              </a:rPr>
              <a:t>先進AI戦略企画部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0134" y="5486400"/>
            <a:ext cx="12314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>
                <a:solidFill>
                  <a:schemeClr val="bg1"/>
                </a:solidFill>
              </a:rPr>
              <a:t>2025年1月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10">
            <a:extLst>
              <a:ext uri="{FF2B5EF4-FFF2-40B4-BE49-F238E27FC236}">
                <a16:creationId xmlns:a16="http://schemas.microsoft.com/office/drawing/2014/main" id="{B09597AC-7D0B-CA8D-D922-01CF72AD685F}"/>
              </a:ext>
            </a:extLst>
          </p:cNvPr>
          <p:cNvSpPr/>
          <p:nvPr/>
        </p:nvSpPr>
        <p:spPr>
          <a:xfrm>
            <a:off x="719756" y="2933489"/>
            <a:ext cx="4512360" cy="276672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FF8C16-95CC-9701-BA36-C7E3077B6C67}"/>
              </a:ext>
            </a:extLst>
          </p:cNvPr>
          <p:cNvSpPr/>
          <p:nvPr/>
        </p:nvSpPr>
        <p:spPr>
          <a:xfrm>
            <a:off x="4859677" y="2691830"/>
            <a:ext cx="6842589" cy="161818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AC5F3-1C3A-859D-37C5-60B7DBECA07A}"/>
              </a:ext>
            </a:extLst>
          </p:cNvPr>
          <p:cNvSpPr/>
          <p:nvPr/>
        </p:nvSpPr>
        <p:spPr>
          <a:xfrm>
            <a:off x="457200" y="1284270"/>
            <a:ext cx="5029199" cy="10787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主要な取り組み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15200"/>
            <a:ext cx="5029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AI翻訳システムの開発</a:t>
            </a:r>
            <a:endParaRPr dirty="0"/>
          </a:p>
          <a:p>
            <a:pPr>
              <a:defRPr sz="1600"/>
            </a:pPr>
            <a:r>
              <a:rPr dirty="0" err="1"/>
              <a:t>社内プレゼンテーションの自動翻訳を実現し、グローバルコミュニケーションを促進します</a:t>
            </a:r>
            <a:r>
              <a:rPr dirty="0"/>
              <a:t>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FB4A8-BC39-1903-908E-7F0DA7A9639E}"/>
              </a:ext>
            </a:extLst>
          </p:cNvPr>
          <p:cNvSpPr txBox="1"/>
          <p:nvPr/>
        </p:nvSpPr>
        <p:spPr>
          <a:xfrm>
            <a:off x="5604554" y="3182893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lang="ja-JP" altLang="en-US"/>
              <a:t>レイアウト保持機能</a:t>
            </a:r>
          </a:p>
          <a:p>
            <a:pPr>
              <a:defRPr sz="1600"/>
            </a:pPr>
            <a:r>
              <a:rPr lang="ja-JP" altLang="en-US"/>
              <a:t>元のスライドデザインを維持しながら、テキストのみを翻訳します。</a:t>
            </a:r>
            <a:endParaRPr lang="ja-JP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65B15-B889-5389-B4F6-C3832F06C2E9}"/>
              </a:ext>
            </a:extLst>
          </p:cNvPr>
          <p:cNvSpPr txBox="1"/>
          <p:nvPr/>
        </p:nvSpPr>
        <p:spPr>
          <a:xfrm>
            <a:off x="1840849" y="4246645"/>
            <a:ext cx="2270173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2000" b="1"/>
            </a:pPr>
            <a:r>
              <a:rPr lang="ja-JP" altLang="en-US" sz="2400"/>
              <a:t>期待される効果</a:t>
            </a:r>
          </a:p>
          <a:p>
            <a:pPr algn="ctr">
              <a:defRPr sz="1600"/>
            </a:pPr>
            <a:r>
              <a:rPr lang="en-US" altLang="ja-JP" sz="1100" dirty="0"/>
              <a:t>• </a:t>
            </a:r>
            <a:r>
              <a:rPr lang="ja-JP" altLang="en-US" sz="1100"/>
              <a:t>翻訳時間</a:t>
            </a:r>
            <a:r>
              <a:rPr lang="en-US" altLang="ja-JP" sz="1100" dirty="0"/>
              <a:t>: 2-3</a:t>
            </a:r>
            <a:r>
              <a:rPr lang="ja-JP" altLang="en-US" sz="1100"/>
              <a:t>時間 → </a:t>
            </a:r>
            <a:r>
              <a:rPr lang="en-US" altLang="ja-JP" sz="1100" dirty="0"/>
              <a:t>5</a:t>
            </a:r>
            <a:r>
              <a:rPr lang="ja-JP" altLang="en-US" sz="1100"/>
              <a:t>分</a:t>
            </a:r>
          </a:p>
          <a:p>
            <a:pPr algn="ctr">
              <a:defRPr sz="1600"/>
            </a:pPr>
            <a:r>
              <a:rPr lang="en-US" altLang="ja-JP" sz="1100" dirty="0"/>
              <a:t>• </a:t>
            </a:r>
            <a:r>
              <a:rPr lang="ja-JP" altLang="en-US" sz="1100"/>
              <a:t>コスト削減</a:t>
            </a:r>
            <a:r>
              <a:rPr lang="en-US" altLang="ja-JP" sz="1100" dirty="0"/>
              <a:t>: </a:t>
            </a:r>
            <a:r>
              <a:rPr lang="ja-JP" altLang="en-US" sz="1100"/>
              <a:t>年間約</a:t>
            </a:r>
            <a:r>
              <a:rPr lang="en-US" altLang="ja-JP" sz="1100" dirty="0"/>
              <a:t>500</a:t>
            </a:r>
            <a:r>
              <a:rPr lang="ja-JP" altLang="en-US" sz="1100"/>
              <a:t>万円</a:t>
            </a:r>
          </a:p>
          <a:p>
            <a:pPr algn="ctr">
              <a:defRPr sz="1600"/>
            </a:pPr>
            <a:r>
              <a:rPr lang="en-US" altLang="ja-JP" sz="1100" dirty="0"/>
              <a:t>• </a:t>
            </a:r>
            <a:r>
              <a:rPr lang="ja-JP" altLang="en-US" sz="1100"/>
              <a:t>品質向上</a:t>
            </a:r>
            <a:r>
              <a:rPr lang="en-US" altLang="ja-JP" sz="1100" dirty="0"/>
              <a:t>: </a:t>
            </a:r>
            <a:r>
              <a:rPr lang="ja-JP" altLang="en-US" sz="1100"/>
              <a:t>一貫した用語使用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3DEBF0E1-18E8-C263-750B-1822A1880173}"/>
              </a:ext>
            </a:extLst>
          </p:cNvPr>
          <p:cNvCxnSpPr>
            <a:stCxn id="3" idx="3"/>
            <a:endCxn id="9" idx="0"/>
          </p:cNvCxnSpPr>
          <p:nvPr/>
        </p:nvCxnSpPr>
        <p:spPr>
          <a:xfrm>
            <a:off x="5486400" y="1761476"/>
            <a:ext cx="2794572" cy="9303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64A0AFC-A0F0-22BB-1FEC-24B04B841AD8}"/>
              </a:ext>
            </a:extLst>
          </p:cNvPr>
          <p:cNvCxnSpPr>
            <a:stCxn id="9" idx="4"/>
          </p:cNvCxnSpPr>
          <p:nvPr/>
        </p:nvCxnSpPr>
        <p:spPr>
          <a:xfrm rot="5400000">
            <a:off x="6195997" y="2225036"/>
            <a:ext cx="12700" cy="4169950"/>
          </a:xfrm>
          <a:prstGeom prst="bentConnector4">
            <a:avLst>
              <a:gd name="adj1" fmla="val 1759551"/>
              <a:gd name="adj2" fmla="val 910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5D088C1-D091-8D48-AEFB-7F9B2196744C}"/>
              </a:ext>
            </a:extLst>
          </p:cNvPr>
          <p:cNvSpPr/>
          <p:nvPr/>
        </p:nvSpPr>
        <p:spPr>
          <a:xfrm>
            <a:off x="0" y="6379042"/>
            <a:ext cx="12192000" cy="478958"/>
          </a:xfrm>
          <a:prstGeom prst="rect">
            <a:avLst/>
          </a:prstGeom>
          <a:solidFill>
            <a:srgbClr val="63ADC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TextBox 4"/>
          <p:cNvSpPr txBox="1"/>
          <p:nvPr/>
        </p:nvSpPr>
        <p:spPr>
          <a:xfrm>
            <a:off x="457200" y="6479216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dirty="0" err="1"/>
              <a:t>機密</a:t>
            </a:r>
            <a:r>
              <a:rPr dirty="0"/>
              <a:t> - </a:t>
            </a:r>
            <a:r>
              <a:rPr dirty="0" err="1"/>
              <a:t>社内使用限定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71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Raihan Satria</cp:lastModifiedBy>
  <cp:revision>3</cp:revision>
  <dcterms:created xsi:type="dcterms:W3CDTF">2013-01-27T09:14:16Z</dcterms:created>
  <dcterms:modified xsi:type="dcterms:W3CDTF">2026-01-18T22:52:44Z</dcterms:modified>
  <cp:category/>
</cp:coreProperties>
</file>